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8" r:id="rId4"/>
  </p:sldMasterIdLst>
  <p:notesMasterIdLst>
    <p:notesMasterId r:id="rId9"/>
  </p:notesMasterIdLst>
  <p:sldIdLst>
    <p:sldId id="299" r:id="rId5"/>
    <p:sldId id="7099" r:id="rId6"/>
    <p:sldId id="7100" r:id="rId7"/>
    <p:sldId id="749" r:id="rId8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  <p:cmAuthor id="2" name="McElwaine, Dillon" initials="MD" lastIdx="1" clrIdx="1"/>
  <p:cmAuthor id="3" name="Sophie Sturdevant" initials="SS" lastIdx="1" clrIdx="2"/>
  <p:cmAuthor id="4" name="Danielle" initials="" lastIdx="0" clrIdx="3"/>
  <p:cmAuthor id="5" name="Sator, Zlatko" initials="SZ" lastIdx="1" clrIdx="4">
    <p:extLst>
      <p:ext uri="{19B8F6BF-5375-455C-9EA6-DF929625EA0E}">
        <p15:presenceInfo xmlns:p15="http://schemas.microsoft.com/office/powerpoint/2012/main" userId="S::zsator200@cable.comcast.com::30c8d304-6bc0-4c4c-89e5-b5f04d6bdd69" providerId="AD"/>
      </p:ext>
    </p:extLst>
  </p:cmAuthor>
  <p:cmAuthor id="6" name="Pari Tholkappian" initials="PT" lastIdx="4" clrIdx="5">
    <p:extLst>
      <p:ext uri="{19B8F6BF-5375-455C-9EA6-DF929625EA0E}">
        <p15:presenceInfo xmlns:p15="http://schemas.microsoft.com/office/powerpoint/2012/main" userId="S-1-5-21-1644491937-1993962763-1060284298-435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9A9"/>
    <a:srgbClr val="F06E15"/>
    <a:srgbClr val="00A2C2"/>
    <a:srgbClr val="E32727"/>
    <a:srgbClr val="2F5597"/>
    <a:srgbClr val="F1D4CB"/>
    <a:srgbClr val="009CBC"/>
    <a:srgbClr val="69F1D7"/>
    <a:srgbClr val="4472C4"/>
    <a:srgbClr val="CF3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E21FD-4463-4E29-884D-BFB291CBED4E}" v="1" dt="2025-08-01T05:54:05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75" autoAdjust="0"/>
    <p:restoredTop sz="95226" autoAdjust="0"/>
  </p:normalViewPr>
  <p:slideViewPr>
    <p:cSldViewPr snapToGrid="0" snapToObjects="1">
      <p:cViewPr varScale="1">
        <p:scale>
          <a:sx n="64" d="100"/>
          <a:sy n="64" d="100"/>
        </p:scale>
        <p:origin x="107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lash Harilal" userId="S::abhilash.h@tataelxsi.co.in::8266a0ca-79df-40ac-a62c-4032cc2a5d28" providerId="AD" clId="Web-{F54E21FD-4463-4E29-884D-BFB291CBED4E}"/>
    <pc:docChg chg="addSld">
      <pc:chgData name="Abhilash Harilal" userId="S::abhilash.h@tataelxsi.co.in::8266a0ca-79df-40ac-a62c-4032cc2a5d28" providerId="AD" clId="Web-{F54E21FD-4463-4E29-884D-BFB291CBED4E}" dt="2025-08-01T05:54:05.630" v="0"/>
      <pc:docMkLst>
        <pc:docMk/>
      </pc:docMkLst>
      <pc:sldChg chg="add replId">
        <pc:chgData name="Abhilash Harilal" userId="S::abhilash.h@tataelxsi.co.in::8266a0ca-79df-40ac-a62c-4032cc2a5d28" providerId="AD" clId="Web-{F54E21FD-4463-4E29-884D-BFB291CBED4E}" dt="2025-08-01T05:54:05.630" v="0"/>
        <pc:sldMkLst>
          <pc:docMk/>
          <pc:sldMk cId="3890272542" sldId="71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3342" tIns="46671" rIns="93342" bIns="4667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3342" tIns="46671" rIns="93342" bIns="46671" rtlCol="0"/>
          <a:lstStyle>
            <a:lvl1pPr algn="r">
              <a:defRPr sz="1200"/>
            </a:lvl1pPr>
          </a:lstStyle>
          <a:p>
            <a:fld id="{C1DFC183-0829-ED4A-8A71-917AE7659456}" type="datetimeFigureOut">
              <a:rPr lang="en-US" smtClean="0"/>
              <a:pPr/>
              <a:t>7/31/2025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42" tIns="46671" rIns="93342" bIns="4667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3"/>
            <a:ext cx="5681980" cy="3696713"/>
          </a:xfrm>
          <a:prstGeom prst="rect">
            <a:avLst/>
          </a:prstGeom>
        </p:spPr>
        <p:txBody>
          <a:bodyPr vert="horz" lIns="93342" tIns="46671" rIns="93342" bIns="4667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39" cy="471053"/>
          </a:xfrm>
          <a:prstGeom prst="rect">
            <a:avLst/>
          </a:prstGeom>
        </p:spPr>
        <p:txBody>
          <a:bodyPr vert="horz" lIns="93342" tIns="46671" rIns="93342" bIns="4667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3"/>
            <a:ext cx="3077739" cy="471053"/>
          </a:xfrm>
          <a:prstGeom prst="rect">
            <a:avLst/>
          </a:prstGeom>
        </p:spPr>
        <p:txBody>
          <a:bodyPr vert="horz" lIns="93342" tIns="46671" rIns="93342" bIns="46671" rtlCol="0" anchor="b"/>
          <a:lstStyle>
            <a:lvl1pPr algn="r">
              <a:defRPr sz="1200"/>
            </a:lvl1pPr>
          </a:lstStyle>
          <a:p>
            <a:fld id="{3579E893-D804-EB48-8103-18E1A83B5D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94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79E893-D804-EB48-8103-18E1A83B5D8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87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5C9-FBBD-4F47-B847-14EE89DF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263431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31E57-5804-9141-8332-C2C12666BE6A}"/>
              </a:ext>
            </a:extLst>
          </p:cNvPr>
          <p:cNvSpPr/>
          <p:nvPr userDrawn="1"/>
        </p:nvSpPr>
        <p:spPr>
          <a:xfrm>
            <a:off x="9560689" y="243068"/>
            <a:ext cx="2372810" cy="787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89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2E6BB-FCD0-9847-AD93-F54A01EE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AD091-BCF4-4B4D-AC92-B57945881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22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B32B-EEC0-D94F-B705-D943DE19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56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22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5C9-FBBD-4F47-B847-14EE89DF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6263431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631E57-5804-9141-8332-C2C12666BE6A}"/>
              </a:ext>
            </a:extLst>
          </p:cNvPr>
          <p:cNvSpPr/>
          <p:nvPr userDrawn="1"/>
        </p:nvSpPr>
        <p:spPr>
          <a:xfrm>
            <a:off x="9560689" y="243068"/>
            <a:ext cx="2372810" cy="787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5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65" y="365126"/>
            <a:ext cx="11451665" cy="645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47B8B-1BB9-4A49-9527-01F841AF8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965" y="1196994"/>
            <a:ext cx="11451665" cy="5365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FCA21-F1CE-8243-8FFE-DAE61EC934CC}"/>
              </a:ext>
            </a:extLst>
          </p:cNvPr>
          <p:cNvSpPr/>
          <p:nvPr userDrawn="1"/>
        </p:nvSpPr>
        <p:spPr>
          <a:xfrm>
            <a:off x="0" y="6757162"/>
            <a:ext cx="12192000" cy="100838"/>
          </a:xfrm>
          <a:prstGeom prst="rect">
            <a:avLst/>
          </a:prstGeom>
          <a:solidFill>
            <a:srgbClr val="22B2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07" y="6005842"/>
            <a:ext cx="1920804" cy="490059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1732857" y="6467317"/>
            <a:ext cx="33534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fld id="{AF3AA542-DB4C-461E-BDD9-16882CC060AE}" type="slidenum">
              <a:rPr lang="en-US" sz="1000" smtClean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lvl="0"/>
              <a:t>‹#›</a:t>
            </a:fld>
            <a:endParaRPr lang="en-US" sz="10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A3CA696A-D6FC-B64A-8FBB-CAAE423A63BE}"/>
              </a:ext>
            </a:extLst>
          </p:cNvPr>
          <p:cNvSpPr txBox="1">
            <a:spLocks/>
          </p:cNvSpPr>
          <p:nvPr userDrawn="1"/>
        </p:nvSpPr>
        <p:spPr>
          <a:xfrm>
            <a:off x="4077256" y="6570532"/>
            <a:ext cx="4061081" cy="2326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100" dirty="0"/>
              <a:t>CONFIDENTIAL – RDK Management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" y="1018050"/>
            <a:ext cx="2904231" cy="68580"/>
          </a:xfrm>
          <a:prstGeom prst="rect">
            <a:avLst/>
          </a:prstGeom>
          <a:solidFill>
            <a:srgbClr val="42B4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3095923" y="1018279"/>
            <a:ext cx="2904231" cy="68580"/>
          </a:xfrm>
          <a:prstGeom prst="rect">
            <a:avLst/>
          </a:prstGeom>
          <a:solidFill>
            <a:srgbClr val="FFC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191847" y="1020027"/>
            <a:ext cx="2904231" cy="6858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287770" y="1018280"/>
            <a:ext cx="2904231" cy="68580"/>
          </a:xfrm>
          <a:prstGeom prst="rect">
            <a:avLst/>
          </a:prstGeom>
          <a:solidFill>
            <a:srgbClr val="F27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83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51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2E79AE6-2859-1A4E-A6C6-3066FD002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28D690C-4F1B-2643-B05D-6BBB125D7078}"/>
              </a:ext>
            </a:extLst>
          </p:cNvPr>
          <p:cNvSpPr/>
          <p:nvPr/>
        </p:nvSpPr>
        <p:spPr>
          <a:xfrm>
            <a:off x="1660" y="16987"/>
            <a:ext cx="12192000" cy="6858000"/>
          </a:xfrm>
          <a:prstGeom prst="rect">
            <a:avLst/>
          </a:prstGeom>
          <a:solidFill>
            <a:srgbClr val="22B2DB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E6DF1-CF65-AF44-AAD4-C4B551A4F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77231"/>
            <a:ext cx="11844169" cy="100062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4800" dirty="0">
                <a:solidFill>
                  <a:schemeClr val="bg1"/>
                </a:solidFill>
              </a:rPr>
              <a:t>TDK Lightning</a:t>
            </a:r>
            <a:r>
              <a:rPr lang="en-US" sz="4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®</a:t>
            </a:r>
            <a:r>
              <a:rPr lang="en-US" sz="4800" dirty="0">
                <a:solidFill>
                  <a:schemeClr val="bg1"/>
                </a:solidFill>
              </a:rPr>
              <a:t> Player App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9538" y="5215372"/>
            <a:ext cx="3566160" cy="70132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4FDB9E5-3656-4E07-AE49-DAD7AC0BEAA2}"/>
              </a:ext>
            </a:extLst>
          </p:cNvPr>
          <p:cNvSpPr txBox="1">
            <a:spLocks/>
          </p:cNvSpPr>
          <p:nvPr/>
        </p:nvSpPr>
        <p:spPr>
          <a:xfrm>
            <a:off x="2759483" y="3445987"/>
            <a:ext cx="6325202" cy="10006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</a:rPr>
              <a:t>February 2022</a:t>
            </a:r>
          </a:p>
        </p:txBody>
      </p:sp>
    </p:spTree>
    <p:extLst>
      <p:ext uri="{BB962C8B-B14F-4D97-AF65-F5344CB8AC3E}">
        <p14:creationId xmlns:p14="http://schemas.microsoft.com/office/powerpoint/2010/main" val="1049143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965" y="1196994"/>
            <a:ext cx="5426407" cy="536585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Overview: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Designed for automation testing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Accepts below custom inputs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Test Stream URL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List of playback operation to be performed.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Validation mechanisms 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Player API return values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Player Events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Players: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DASHJS (3.2.1) 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HLSJS (0.13.2)</a:t>
            </a:r>
          </a:p>
          <a:p>
            <a:pPr lvl="1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Shaka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(3.0.2)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AAMP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ABR: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HLS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DASH</a:t>
            </a:r>
          </a:p>
          <a:p>
            <a:pPr lvl="1"/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7055DB-BF7A-4023-9A6C-8243B75F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65" y="365126"/>
            <a:ext cx="11451665" cy="645238"/>
          </a:xfrm>
        </p:spPr>
        <p:txBody>
          <a:bodyPr/>
          <a:lstStyle/>
          <a:p>
            <a:r>
              <a:rPr lang="en-IN" sz="3600" dirty="0"/>
              <a:t>TDK Lightning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®</a:t>
            </a:r>
            <a:r>
              <a:rPr lang="en-IN" sz="3600" dirty="0"/>
              <a:t> Player App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26827" y="1196994"/>
            <a:ext cx="5426407" cy="5365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DRMs: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PlayReady </a:t>
            </a:r>
          </a:p>
          <a:p>
            <a:pPr lvl="1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Widevine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AV codecs (currently validated):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H264, H265(HEVC), VP9, AV1, AAC, OPUS, AC3, EC3, OGG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Codec supports can be extended based on the players capability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Test Operations: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Play, Pause, Seek, Trick Play (FF2x, FF4x etc.,), Channel Zap and playback with different display resolutions.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Lightning ® Animation Apps: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Graphics APIs from Lightning ® SDK are used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Validations based on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Graphics API return values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Graphics events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FPS also used for performance validation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5297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38B7F-9279-D1A3-8A2E-CF120C32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B08B2-6672-67CC-39BE-FE41BEC81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965" y="1196994"/>
            <a:ext cx="5426407" cy="536585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Overview: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Designed for automation testing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Accepts below custom inputs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Test Stream URL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List of playback operation to be performed.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Validation mechanisms 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Player API return values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Player Events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Players: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DASHJS (3.2.1) 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HLSJS (0.13.2)</a:t>
            </a:r>
          </a:p>
          <a:p>
            <a:pPr lvl="1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Shaka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(3.0.2)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AAMP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ABR: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HLS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DASH</a:t>
            </a:r>
          </a:p>
          <a:p>
            <a:pPr lvl="1"/>
            <a:endParaRPr lang="en-US" sz="1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7B6D7A-19A1-4070-779C-307CCF627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65" y="365126"/>
            <a:ext cx="11451665" cy="645238"/>
          </a:xfrm>
        </p:spPr>
        <p:txBody>
          <a:bodyPr/>
          <a:lstStyle/>
          <a:p>
            <a:r>
              <a:rPr lang="en-IN" sz="3600" dirty="0"/>
              <a:t>TDK Lightning</a:t>
            </a:r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®</a:t>
            </a:r>
            <a:r>
              <a:rPr lang="en-IN" sz="3600" dirty="0"/>
              <a:t> Player App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DAA8E7-CE18-251D-D6C9-E2B9E4755228}"/>
              </a:ext>
            </a:extLst>
          </p:cNvPr>
          <p:cNvSpPr txBox="1">
            <a:spLocks/>
          </p:cNvSpPr>
          <p:nvPr/>
        </p:nvSpPr>
        <p:spPr>
          <a:xfrm>
            <a:off x="6226827" y="1196994"/>
            <a:ext cx="5426407" cy="5365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DRMs: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PlayReady </a:t>
            </a:r>
          </a:p>
          <a:p>
            <a:pPr lvl="1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Widevine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AV codecs (currently validated):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H264, H265(HEVC), VP9, AV1, AAC, OPUS, AC3, EC3, OGG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Codec supports can be extended based on the players capability 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Test Operations: 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Play, Pause, Seek, Trick Play (FF2x, FF4x etc.,), Channel Zap and playback with different display resolutions.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Lightning ® Animation Apps: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Graphics APIs from Lightning ® SDK are used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Validations based on 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Graphics API return values</a:t>
            </a:r>
          </a:p>
          <a:p>
            <a:pPr lvl="2"/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Graphics events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FPS also used for performance validation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027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A5609-AB0C-476F-A6EA-027FAB554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872" y="2952437"/>
            <a:ext cx="3942609" cy="64523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9791835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F018B1DD92A84E90D6A3114524BCC0" ma:contentTypeVersion="13" ma:contentTypeDescription="Create a new document." ma:contentTypeScope="" ma:versionID="abd6dd9c6f74840bf176c2f9fdf0ff06">
  <xsd:schema xmlns:xsd="http://www.w3.org/2001/XMLSchema" xmlns:xs="http://www.w3.org/2001/XMLSchema" xmlns:p="http://schemas.microsoft.com/office/2006/metadata/properties" xmlns:ns3="60cb5c87-4b58-468a-99df-58d9745dc9ab" xmlns:ns4="503ed89a-57c1-4b70-823b-4df5ad329841" targetNamespace="http://schemas.microsoft.com/office/2006/metadata/properties" ma:root="true" ma:fieldsID="7b641e25257ce1b60463d3784f5ec35c" ns3:_="" ns4:_="">
    <xsd:import namespace="60cb5c87-4b58-468a-99df-58d9745dc9ab"/>
    <xsd:import namespace="503ed89a-57c1-4b70-823b-4df5ad32984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cb5c87-4b58-468a-99df-58d9745dc9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ed89a-57c1-4b70-823b-4df5ad32984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FC111C-7EA4-41B4-81F6-1CA36AFEEF03}">
  <ds:schemaRefs>
    <ds:schemaRef ds:uri="http://purl.org/dc/terms/"/>
    <ds:schemaRef ds:uri="60cb5c87-4b58-468a-99df-58d9745dc9ab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03ed89a-57c1-4b70-823b-4df5ad329841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3992FB0-58E7-44AF-BE20-11E7DD8550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F1F2E6-FE59-4047-B36A-DCDAD97891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cb5c87-4b58-468a-99df-58d9745dc9ab"/>
    <ds:schemaRef ds:uri="503ed89a-57c1-4b70-823b-4df5ad3298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61787</TotalTime>
  <Words>157</Words>
  <Application>Microsoft Office PowerPoint</Application>
  <PresentationFormat>Widescreen</PresentationFormat>
  <Paragraphs>36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1_Office Theme</vt:lpstr>
      <vt:lpstr>TDK Lightning® Player App </vt:lpstr>
      <vt:lpstr>TDK Lightning® Player App</vt:lpstr>
      <vt:lpstr>TDK Lightning® Player App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JYOTHAPPA, SAHITHYA (Contractor)</cp:lastModifiedBy>
  <cp:revision>695</cp:revision>
  <cp:lastPrinted>2019-04-07T12:17:55Z</cp:lastPrinted>
  <dcterms:created xsi:type="dcterms:W3CDTF">2018-08-31T14:28:26Z</dcterms:created>
  <dcterms:modified xsi:type="dcterms:W3CDTF">2025-08-01T05:54:06Z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0x01010029F018B1DD92A84E90D6A3114524BCC0</vt:lpwstr>
  </property>
  <property fmtid="{D5CDD505-2E9C-101B-9397-08002B2CF9AE}" pid="3" name="MSIP_Label_d0979fc8-5559-4f19-93ee-e28ca03d7638_Enabled">
    <vt:lpwstr>true</vt:lpwstr>
  </property>
  <property fmtid="{D5CDD505-2E9C-101B-9397-08002B2CF9AE}" pid="4" name="MSIP_Label_d0979fc8-5559-4f19-93ee-e28ca03d7638_SetDate">
    <vt:lpwstr>2025-03-25T09:49:45Z</vt:lpwstr>
  </property>
  <property fmtid="{D5CDD505-2E9C-101B-9397-08002B2CF9AE}" pid="5" name="MSIP_Label_d0979fc8-5559-4f19-93ee-e28ca03d7638_Method">
    <vt:lpwstr>Privileged</vt:lpwstr>
  </property>
  <property fmtid="{D5CDD505-2E9C-101B-9397-08002B2CF9AE}" pid="6" name="MSIP_Label_d0979fc8-5559-4f19-93ee-e28ca03d7638_Name">
    <vt:lpwstr>General Business Information (G)</vt:lpwstr>
  </property>
  <property fmtid="{D5CDD505-2E9C-101B-9397-08002B2CF9AE}" pid="7" name="MSIP_Label_d0979fc8-5559-4f19-93ee-e28ca03d7638_SiteId">
    <vt:lpwstr>906aefe9-76a7-4f65-b82d-5ec20775d5aa</vt:lpwstr>
  </property>
  <property fmtid="{D5CDD505-2E9C-101B-9397-08002B2CF9AE}" pid="8" name="MSIP_Label_d0979fc8-5559-4f19-93ee-e28ca03d7638_ActionId">
    <vt:lpwstr>fd376e14-cec7-4487-ba9e-a6325611853f</vt:lpwstr>
  </property>
  <property fmtid="{D5CDD505-2E9C-101B-9397-08002B2CF9AE}" pid="9" name="MSIP_Label_d0979fc8-5559-4f19-93ee-e28ca03d7638_ContentBits">
    <vt:lpwstr>0</vt:lpwstr>
  </property>
  <property fmtid="{D5CDD505-2E9C-101B-9397-08002B2CF9AE}" pid="10" name="MSIP_Label_d0979fc8-5559-4f19-93ee-e28ca03d7638_Tag">
    <vt:lpwstr>10, 0, 1, 1</vt:lpwstr>
  </property>
</Properties>
</file>